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74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897363-8F46-DD68-A469-8CC02D980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1FD1E-0C35-A9D2-0A62-FF5705FD5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21617C-6670-9546-3845-C53D3464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E2E4B0-4A41-480B-87E8-2FF7EBA4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237BE6-A3B2-5D3D-91FF-B679ECBDF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86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36201-8C06-D933-A0A3-4D4ED36B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5A94F3-96F5-5C54-8BD7-3A297130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FBFC9D-4A85-77CC-CD83-F7D4BE37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4F6227-251C-6D0D-6E1F-AEBD9285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2AF3F4-3701-0126-87CA-754E50D98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6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FD295-8658-AE91-BF09-F91E59486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03E765-CBB1-3FAB-2284-205AC15FB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29150C-96BF-DA6E-DCB3-653F7AB17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5DB5B9-D852-1AC0-1919-99C0015B1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FE4208-A41B-49D2-6F20-02EAE0C8D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936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DFFE93-3F1B-0E99-C3CF-D647370F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A4354C-2E00-A844-240E-384D26060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0BD72B-26BE-0D5C-55B0-DC4A9BF00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DEC3D8-6A36-9B9E-0BC2-888D99945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95BE3C-9D61-37F0-F7AD-579C5597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4EA464-9D3F-7D08-0B3F-BBC083967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91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930E5-855B-C559-E2FC-AA6D95ECB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D0334-9F12-97A6-B2D8-6965B1D7D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507287-3731-65C2-DD4C-0670F25EB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D98AAD0-0CA5-1591-EDB6-EAB3FAA22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005E24-33DA-F1AE-17F8-1605B1C8B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1215497-E4AD-89A6-B623-DC4854741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E1646F2-5DA1-3537-D0F2-5A3EA358F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7B99509-92F1-CF4E-DC29-D0825C63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2AAB93-FBDD-495F-CED4-24A30EC7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A2F8D68-5FDD-D74E-C565-4DE5427DD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633BC19-1110-D8C8-5381-D747C0510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1D4D64-952A-75F5-9FEA-842941CB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37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CA20E49-CFC2-5296-F802-948DF6531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4CAD253-5FB5-BC50-0DAC-C9F7F057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63FA15-FA06-59A4-333C-6827BD9B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7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8382E-DA7A-BD32-4475-33EAD135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DB81D3-4BFE-D6C8-941E-51B835370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73F90B-DBFB-C417-450E-FD7D93D59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0B1665-D8A5-98F2-5466-29E79393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1B2F5C-5FB9-5FA7-2FB3-9AD27B9A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2AD8BC-4308-3044-767A-32C57FE86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65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6E4D7-BFCD-AF35-BD91-4443F47D1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9A4256D-ECB7-F31B-B729-3F7D6F57F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F7F00F-F5CD-DBEA-7F73-17A302B7E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CBBDDE-1E5C-EA04-E833-1B869C2A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54454A-6D30-26B5-5773-410198D76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99DED7-52F8-EC48-40C6-4B460402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179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ECD1F-9318-061D-455A-F6BC5110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56046A-A632-C251-037C-C7DD594F4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86F427-ECB7-5610-D6B8-95BB5C01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ACB69A-6DC7-F946-1799-2A1DA75F1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83ABE6-C53F-0F35-5240-8A486E8C1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68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EC53385-1159-D037-B144-53EEAD0C0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0CED38-07A3-C6F7-6165-B398A0E68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14F6DC-C7F1-7119-36B9-72CF1FE3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4DF206-D5F8-1D5D-F683-80F4531E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FE9138-7D20-6662-06ED-22C3395E2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39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FCD9F-702D-53D4-2C24-8555AD29F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0FD76E-7E7E-755C-3EE9-B6109E835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0DB51D-FD57-919A-0D19-D193F412F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4409F-C5D6-4A1D-8C12-BC7EEB6D07E5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1CEDCB-2367-D10A-36E1-A2BE7B154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3D7419-2819-2A17-01D7-A06936032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1A99B-0E54-469F-98D1-F86ADA9BAB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80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E5EE73-F25F-892E-D6D3-AFBFC0FAD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7" y="797998"/>
            <a:ext cx="9144000" cy="2503077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>
                <a:latin typeface="Montserrat Alternates Black" panose="00000A00000000000000" pitchFamily="2" charset="-52"/>
              </a:rPr>
              <a:t>Веб-приложение «Места в Чебоксарах»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B076D5-2CAB-788D-91A1-C37081C7C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6117" y="3556925"/>
            <a:ext cx="8229601" cy="808597"/>
          </a:xfrm>
        </p:spPr>
        <p:txBody>
          <a:bodyPr>
            <a:noAutofit/>
          </a:bodyPr>
          <a:lstStyle/>
          <a:p>
            <a:pPr algn="l"/>
            <a:r>
              <a:rPr lang="ru-RU" dirty="0">
                <a:latin typeface="Arkhip" pitchFamily="2" charset="-52"/>
              </a:rPr>
              <a:t>Проектная работа по разработке информационных систем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09EDB-023B-A662-2155-AD3BEDEC94E6}"/>
              </a:ext>
            </a:extLst>
          </p:cNvPr>
          <p:cNvSpPr txBox="1"/>
          <p:nvPr/>
        </p:nvSpPr>
        <p:spPr>
          <a:xfrm>
            <a:off x="986117" y="4470688"/>
            <a:ext cx="749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khip" pitchFamily="2" charset="-52"/>
              </a:rPr>
              <a:t>The creators of </a:t>
            </a:r>
            <a:r>
              <a:rPr lang="en-US" sz="2400" dirty="0" err="1">
                <a:latin typeface="Arkhip" pitchFamily="2" charset="-52"/>
              </a:rPr>
              <a:t>tosha</a:t>
            </a:r>
            <a:r>
              <a:rPr lang="en-US" sz="2400" dirty="0">
                <a:latin typeface="Arkhip" pitchFamily="2" charset="-52"/>
              </a:rPr>
              <a:t> and Fawere54</a:t>
            </a:r>
            <a:endParaRPr lang="ru-RU" sz="2400" dirty="0">
              <a:latin typeface="Arkhip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3B8A5-4B91-4BEB-F72F-7FDB9DA4B3DF}"/>
              </a:ext>
            </a:extLst>
          </p:cNvPr>
          <p:cNvSpPr txBox="1"/>
          <p:nvPr/>
        </p:nvSpPr>
        <p:spPr>
          <a:xfrm>
            <a:off x="986117" y="5037519"/>
            <a:ext cx="4528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khip" pitchFamily="2" charset="-52"/>
              </a:rPr>
              <a:t>Город: Чебоксары, 2026</a:t>
            </a:r>
          </a:p>
        </p:txBody>
      </p:sp>
    </p:spTree>
    <p:extLst>
      <p:ext uri="{BB962C8B-B14F-4D97-AF65-F5344CB8AC3E}">
        <p14:creationId xmlns:p14="http://schemas.microsoft.com/office/powerpoint/2010/main" val="860901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E5244-8C24-8E28-3E0C-EFB74685D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600" dirty="0">
                <a:latin typeface="Montserrat Alternates Black" panose="00000A00000000000000" pitchFamily="2" charset="-52"/>
              </a:rPr>
              <a:t>Введение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08C544C-49D0-41A5-F987-C360529AD6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12685" y="2221865"/>
            <a:ext cx="7137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khip" pitchFamily="2" charset="-52"/>
              </a:rPr>
              <a:t>Задачи: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khip" pitchFamily="2" charset="-52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khip" pitchFamily="2" charset="-52"/>
              </a:rPr>
              <a:t>Систематизация информации о парках, театрах и развлекательных центрах.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khip" pitchFamily="2" charset="-52"/>
              </a:rPr>
              <a:t>Предоставление быстрого доступа к адресу и графику работы мест.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khip" pitchFamily="2" charset="-52"/>
              </a:rPr>
              <a:t>Создание системы персональных закладок для пользователей.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khip" pitchFamily="2" charset="-52"/>
              </a:rPr>
              <a:t>Реализация фильтрации контента по категориям.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khip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4587C-8825-93A8-41E8-B4CF3E99BBFD}"/>
              </a:ext>
            </a:extLst>
          </p:cNvPr>
          <p:cNvSpPr txBox="1"/>
          <p:nvPr/>
        </p:nvSpPr>
        <p:spPr>
          <a:xfrm>
            <a:off x="838201" y="2221865"/>
            <a:ext cx="27813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khip" pitchFamily="2" charset="-52"/>
              </a:rPr>
              <a:t>Идея проекта: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khip" pitchFamily="2" charset="-52"/>
              </a:rPr>
              <a:t> Создание удобного агрегатора культурных и развлекательных локаций города для жителей и туристов.</a:t>
            </a:r>
          </a:p>
        </p:txBody>
      </p:sp>
    </p:spTree>
    <p:extLst>
      <p:ext uri="{BB962C8B-B14F-4D97-AF65-F5344CB8AC3E}">
        <p14:creationId xmlns:p14="http://schemas.microsoft.com/office/powerpoint/2010/main" val="1216756937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D9910C8-3799-40C9-5C74-00549D3A873F}"/>
              </a:ext>
            </a:extLst>
          </p:cNvPr>
          <p:cNvSpPr/>
          <p:nvPr/>
        </p:nvSpPr>
        <p:spPr>
          <a:xfrm>
            <a:off x="9152744" y="1560133"/>
            <a:ext cx="2749995" cy="35814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77C09D1-0B16-7C22-B78D-2AE161FC5880}"/>
              </a:ext>
            </a:extLst>
          </p:cNvPr>
          <p:cNvSpPr/>
          <p:nvPr/>
        </p:nvSpPr>
        <p:spPr>
          <a:xfrm>
            <a:off x="3289133" y="1560133"/>
            <a:ext cx="2749995" cy="35814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9EC00E6-13ED-E57D-5A81-2CEF23DA8B8B}"/>
              </a:ext>
            </a:extLst>
          </p:cNvPr>
          <p:cNvSpPr/>
          <p:nvPr/>
        </p:nvSpPr>
        <p:spPr>
          <a:xfrm>
            <a:off x="6235088" y="1560133"/>
            <a:ext cx="2749995" cy="3581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8ECED57-B0CC-85A2-F677-AE11FEC0D022}"/>
              </a:ext>
            </a:extLst>
          </p:cNvPr>
          <p:cNvSpPr/>
          <p:nvPr/>
        </p:nvSpPr>
        <p:spPr>
          <a:xfrm>
            <a:off x="371473" y="1560133"/>
            <a:ext cx="2749995" cy="3581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B18AF-7E06-549D-09F5-7635BB2D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600" dirty="0">
                <a:latin typeface="Montserrat Alternates Black" panose="00000A00000000000000" pitchFamily="2" charset="-52"/>
              </a:rPr>
              <a:t>Технологический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AEB4C0-1C5A-91B9-2523-C7F6FA17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2121" y="1781172"/>
            <a:ext cx="2091239" cy="28007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latin typeface="Arkhip" pitchFamily="2" charset="-52"/>
              </a:rPr>
              <a:t>Backend:</a:t>
            </a:r>
            <a:r>
              <a:rPr lang="en-US" sz="2200" dirty="0">
                <a:latin typeface="Arkhip" pitchFamily="2" charset="-52"/>
              </a:rPr>
              <a:t> Python 3.12, </a:t>
            </a:r>
            <a:r>
              <a:rPr lang="ru-RU" sz="2200" dirty="0">
                <a:latin typeface="Arkhip" pitchFamily="2" charset="-52"/>
              </a:rPr>
              <a:t>фреймворк </a:t>
            </a:r>
            <a:r>
              <a:rPr lang="en-US" sz="2200" b="1" dirty="0">
                <a:latin typeface="Arkhip" pitchFamily="2" charset="-52"/>
              </a:rPr>
              <a:t>Flask</a:t>
            </a:r>
            <a:r>
              <a:rPr lang="en-US" sz="2200" dirty="0">
                <a:latin typeface="Arkhip" pitchFamily="2" charset="-52"/>
              </a:rPr>
              <a:t> (</a:t>
            </a:r>
            <a:r>
              <a:rPr lang="ru-RU" sz="2200" dirty="0">
                <a:latin typeface="Arkhip" pitchFamily="2" charset="-52"/>
              </a:rPr>
              <a:t>обработка маршрутов, логика авторизации).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654D9-1F25-9D4E-AEFE-E9DE34E3674A}"/>
              </a:ext>
            </a:extLst>
          </p:cNvPr>
          <p:cNvSpPr txBox="1"/>
          <p:nvPr/>
        </p:nvSpPr>
        <p:spPr>
          <a:xfrm>
            <a:off x="3302688" y="1781172"/>
            <a:ext cx="272288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b="1" dirty="0" err="1">
                <a:latin typeface="Arkhip" pitchFamily="2" charset="-52"/>
              </a:rPr>
              <a:t>Frontend</a:t>
            </a:r>
            <a:r>
              <a:rPr lang="ru-RU" sz="2200" b="1" dirty="0">
                <a:latin typeface="Arkhip" pitchFamily="2" charset="-52"/>
              </a:rPr>
              <a:t>:</a:t>
            </a:r>
            <a:r>
              <a:rPr lang="ru-RU" sz="2200" dirty="0">
                <a:latin typeface="Arkhip" pitchFamily="2" charset="-52"/>
              </a:rPr>
              <a:t> HTML5, CSS3 (адаптивная верстка, использование </a:t>
            </a:r>
            <a:r>
              <a:rPr lang="ru-RU" sz="2200" dirty="0" err="1">
                <a:latin typeface="Arkhip" pitchFamily="2" charset="-52"/>
              </a:rPr>
              <a:t>Glassmorphism</a:t>
            </a:r>
            <a:r>
              <a:rPr lang="ru-RU" sz="2200" dirty="0">
                <a:latin typeface="Arkhip" pitchFamily="2" charset="-52"/>
              </a:rPr>
              <a:t> для формы входа).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C1F090-5753-406F-22A4-2DE33FBB2353}"/>
              </a:ext>
            </a:extLst>
          </p:cNvPr>
          <p:cNvSpPr txBox="1"/>
          <p:nvPr/>
        </p:nvSpPr>
        <p:spPr>
          <a:xfrm>
            <a:off x="6288240" y="1781172"/>
            <a:ext cx="264368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b="1" dirty="0">
                <a:latin typeface="Arkhip" pitchFamily="2" charset="-52"/>
              </a:rPr>
              <a:t>База данных:</a:t>
            </a:r>
            <a:r>
              <a:rPr lang="ru-RU" sz="2200" dirty="0">
                <a:latin typeface="Arkhip" pitchFamily="2" charset="-52"/>
              </a:rPr>
              <a:t> </a:t>
            </a:r>
            <a:r>
              <a:rPr lang="ru-RU" sz="2200" b="1" dirty="0">
                <a:latin typeface="Arkhip" pitchFamily="2" charset="-52"/>
              </a:rPr>
              <a:t>SQLite3</a:t>
            </a:r>
            <a:r>
              <a:rPr lang="ru-RU" sz="2200" dirty="0">
                <a:latin typeface="Arkhip" pitchFamily="2" charset="-52"/>
              </a:rPr>
              <a:t> (хранение данных пользователей, информации о местах и связей «избранного»).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C3C6C-2846-525E-DEAA-97BB1825491C}"/>
              </a:ext>
            </a:extLst>
          </p:cNvPr>
          <p:cNvSpPr txBox="1"/>
          <p:nvPr/>
        </p:nvSpPr>
        <p:spPr>
          <a:xfrm>
            <a:off x="424624" y="1781172"/>
            <a:ext cx="264369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b="1" dirty="0">
                <a:latin typeface="Arkhip" pitchFamily="2" charset="-52"/>
              </a:rPr>
              <a:t>Библиотеки:</a:t>
            </a:r>
            <a:r>
              <a:rPr lang="ru-RU" sz="2200" dirty="0">
                <a:latin typeface="Arkhip" pitchFamily="2" charset="-52"/>
              </a:rPr>
              <a:t> </a:t>
            </a:r>
            <a:r>
              <a:rPr lang="ru-RU" sz="2200" dirty="0" err="1">
                <a:latin typeface="Arkhip" pitchFamily="2" charset="-52"/>
              </a:rPr>
              <a:t>Flask-SQLAlchemy</a:t>
            </a:r>
            <a:r>
              <a:rPr lang="ru-RU" sz="2200" dirty="0">
                <a:latin typeface="Arkhip" pitchFamily="2" charset="-52"/>
              </a:rPr>
              <a:t> (ORM для работы с БД), </a:t>
            </a:r>
            <a:r>
              <a:rPr lang="ru-RU" sz="2200" dirty="0" err="1">
                <a:latin typeface="Arkhip" pitchFamily="2" charset="-52"/>
              </a:rPr>
              <a:t>Werkzeug</a:t>
            </a:r>
            <a:r>
              <a:rPr lang="ru-RU" sz="2200" dirty="0">
                <a:latin typeface="Arkhip" pitchFamily="2" charset="-52"/>
              </a:rPr>
              <a:t> (хеширование паролей для безопасности).</a:t>
            </a:r>
          </a:p>
        </p:txBody>
      </p:sp>
    </p:spTree>
    <p:extLst>
      <p:ext uri="{BB962C8B-B14F-4D97-AF65-F5344CB8AC3E}">
        <p14:creationId xmlns:p14="http://schemas.microsoft.com/office/powerpoint/2010/main" val="3362240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73E38-BA6E-B9AE-4885-E1E93091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600" dirty="0">
                <a:latin typeface="Montserrat Alternates Black" panose="00000A00000000000000" pitchFamily="2" charset="-52"/>
              </a:rPr>
              <a:t>Структура и 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D97390-84E4-05F1-4094-BD21AF8B6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266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>
                <a:latin typeface="Arkhip" pitchFamily="2" charset="-52"/>
              </a:rPr>
              <a:t>Архитектура приложения:</a:t>
            </a:r>
            <a:endParaRPr lang="ru-RU" sz="2200" dirty="0">
              <a:latin typeface="Arkhip" pitchFamily="2" charset="-52"/>
            </a:endParaRPr>
          </a:p>
          <a:p>
            <a:r>
              <a:rPr lang="ru-RU" sz="2200" dirty="0">
                <a:latin typeface="Arkhip" pitchFamily="2" charset="-52"/>
              </a:rPr>
              <a:t>User: Класс модели пользователя (</a:t>
            </a:r>
            <a:r>
              <a:rPr lang="ru-RU" sz="2200" dirty="0" err="1">
                <a:latin typeface="Arkhip" pitchFamily="2" charset="-52"/>
              </a:rPr>
              <a:t>id</a:t>
            </a:r>
            <a:r>
              <a:rPr lang="ru-RU" sz="2200" dirty="0">
                <a:latin typeface="Arkhip" pitchFamily="2" charset="-52"/>
              </a:rPr>
              <a:t>, имя, </a:t>
            </a:r>
            <a:r>
              <a:rPr lang="ru-RU" sz="2200" dirty="0" err="1">
                <a:latin typeface="Arkhip" pitchFamily="2" charset="-52"/>
              </a:rPr>
              <a:t>email</a:t>
            </a:r>
            <a:r>
              <a:rPr lang="ru-RU" sz="2200" dirty="0">
                <a:latin typeface="Arkhip" pitchFamily="2" charset="-52"/>
              </a:rPr>
              <a:t>, </a:t>
            </a:r>
            <a:r>
              <a:rPr lang="ru-RU" sz="2200" dirty="0" err="1">
                <a:latin typeface="Arkhip" pitchFamily="2" charset="-52"/>
              </a:rPr>
              <a:t>хеш</a:t>
            </a:r>
            <a:r>
              <a:rPr lang="ru-RU" sz="2200" dirty="0">
                <a:latin typeface="Arkhip" pitchFamily="2" charset="-52"/>
              </a:rPr>
              <a:t> пароля).</a:t>
            </a:r>
          </a:p>
          <a:p>
            <a:r>
              <a:rPr lang="ru-RU" sz="2200" dirty="0">
                <a:latin typeface="Arkhip" pitchFamily="2" charset="-52"/>
              </a:rPr>
              <a:t>Place: Класс модели места (название, описание, адрес, категория, изображение).</a:t>
            </a:r>
          </a:p>
          <a:p>
            <a:r>
              <a:rPr lang="ru-RU" sz="2200" dirty="0" err="1">
                <a:latin typeface="Arkhip" pitchFamily="2" charset="-52"/>
              </a:rPr>
              <a:t>Favorites</a:t>
            </a:r>
            <a:r>
              <a:rPr lang="ru-RU" sz="2200" dirty="0">
                <a:latin typeface="Arkhip" pitchFamily="2" charset="-52"/>
              </a:rPr>
              <a:t>: Таблица связей (</a:t>
            </a:r>
            <a:r>
              <a:rPr lang="ru-RU" sz="2200" dirty="0" err="1">
                <a:latin typeface="Arkhip" pitchFamily="2" charset="-52"/>
              </a:rPr>
              <a:t>Many-to-Many</a:t>
            </a:r>
            <a:r>
              <a:rPr lang="ru-RU" sz="2200" dirty="0">
                <a:latin typeface="Arkhip" pitchFamily="2" charset="-52"/>
              </a:rPr>
              <a:t>) для хранения избранных мест.</a:t>
            </a:r>
          </a:p>
          <a:p>
            <a:pPr marL="0" indent="0">
              <a:buNone/>
            </a:pPr>
            <a:endParaRPr lang="ru-RU" sz="2200" dirty="0">
              <a:latin typeface="Arkhip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07F24-31E3-41F0-B841-B8FBCD842196}"/>
              </a:ext>
            </a:extLst>
          </p:cNvPr>
          <p:cNvSpPr txBox="1"/>
          <p:nvPr/>
        </p:nvSpPr>
        <p:spPr>
          <a:xfrm>
            <a:off x="6727117" y="1825625"/>
            <a:ext cx="44294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200" b="1" dirty="0">
                <a:latin typeface="Arkhip" pitchFamily="2" charset="-52"/>
              </a:rPr>
              <a:t>Особенности:</a:t>
            </a:r>
            <a:endParaRPr lang="ru-RU" sz="2200" dirty="0">
              <a:latin typeface="Arkhip" pitchFamily="2" charset="-5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latin typeface="Arkhip" pitchFamily="2" charset="-52"/>
              </a:rPr>
              <a:t>Безопасная аутентификация пользователей.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latin typeface="Arkhip" pitchFamily="2" charset="-52"/>
              </a:rPr>
              <a:t>Динамическая подгрузка карточек мест из базы данных.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latin typeface="Arkhip" pitchFamily="2" charset="-52"/>
              </a:rPr>
              <a:t>Система фильтрации, позволяющая отображать только выбранные категории (Театры, Парки и т.д.).</a:t>
            </a:r>
          </a:p>
        </p:txBody>
      </p:sp>
    </p:spTree>
    <p:extLst>
      <p:ext uri="{BB962C8B-B14F-4D97-AF65-F5344CB8AC3E}">
        <p14:creationId xmlns:p14="http://schemas.microsoft.com/office/powerpoint/2010/main" val="3449435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Content="1"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3E4CF53B-A771-1B8D-513A-489C9BD43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4605" y="0"/>
            <a:ext cx="1470121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0583A-8BA4-17ED-D9AA-1045824A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925" y="2074068"/>
            <a:ext cx="1876425" cy="2709863"/>
          </a:xfrm>
        </p:spPr>
        <p:txBody>
          <a:bodyPr>
            <a:normAutofit fontScale="90000"/>
          </a:bodyPr>
          <a:lstStyle/>
          <a:p>
            <a:r>
              <a:rPr lang="ru-RU" sz="4600" dirty="0">
                <a:solidFill>
                  <a:schemeClr val="bg1"/>
                </a:solidFill>
                <a:latin typeface="Montserrat Alternates Black" panose="00000A00000000000000" pitchFamily="2" charset="-52"/>
              </a:rPr>
              <a:t>Вход/Регистрация</a:t>
            </a:r>
          </a:p>
        </p:txBody>
      </p:sp>
    </p:spTree>
    <p:extLst>
      <p:ext uri="{BB962C8B-B14F-4D97-AF65-F5344CB8AC3E}">
        <p14:creationId xmlns:p14="http://schemas.microsoft.com/office/powerpoint/2010/main" val="414119057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4">
            <a:extLst>
              <a:ext uri="{FF2B5EF4-FFF2-40B4-BE49-F238E27FC236}">
                <a16:creationId xmlns:a16="http://schemas.microsoft.com/office/drawing/2014/main" id="{89368418-7315-F60D-94A0-87F08A3B5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904" y="698469"/>
            <a:ext cx="223757" cy="105407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B35CF2F8-9198-6BE1-95BD-5C0FDF8E20D3}"/>
              </a:ext>
            </a:extLst>
          </p:cNvPr>
          <p:cNvPicPr>
            <a:picLocks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0584" y="0"/>
            <a:ext cx="13733167" cy="6858000"/>
          </a:xfrm>
          <a:prstGeom prst="rect">
            <a:avLst/>
          </a:prstGeom>
          <a:effectLst>
            <a:glow>
              <a:schemeClr val="accent1">
                <a:alpha val="85000"/>
              </a:schemeClr>
            </a:glo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44BDAE-7370-C1E6-B8FC-465EFB7E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749" y="2763243"/>
            <a:ext cx="6540500" cy="1325563"/>
          </a:xfrm>
        </p:spPr>
        <p:txBody>
          <a:bodyPr>
            <a:normAutofit/>
          </a:bodyPr>
          <a:lstStyle/>
          <a:p>
            <a:r>
              <a:rPr lang="ru-RU" sz="4600" dirty="0">
                <a:solidFill>
                  <a:schemeClr val="bg1"/>
                </a:solidFill>
                <a:latin typeface="Montserrat Alternates Black" panose="00000A00000000000000" pitchFamily="2" charset="-52"/>
              </a:rPr>
              <a:t>Главная страница</a:t>
            </a:r>
          </a:p>
        </p:txBody>
      </p:sp>
      <p:pic>
        <p:nvPicPr>
          <p:cNvPr id="6" name="Объект 4">
            <a:extLst>
              <a:ext uri="{FF2B5EF4-FFF2-40B4-BE49-F238E27FC236}">
                <a16:creationId xmlns:a16="http://schemas.microsoft.com/office/drawing/2014/main" id="{699B0BA0-83C5-7CE1-FC2C-42A5392B896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0584" y="7940581"/>
            <a:ext cx="13733168" cy="6601132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  <a:outerShdw dist="50800" dir="9180000" sx="92000" sy="92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648840750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99D2B-573B-E88D-9791-CEC5C4F8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4">
            <a:extLst>
              <a:ext uri="{FF2B5EF4-FFF2-40B4-BE49-F238E27FC236}">
                <a16:creationId xmlns:a16="http://schemas.microsoft.com/office/drawing/2014/main" id="{610B9E37-FA37-8E43-4BDF-1BE6FD9B9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904" y="698469"/>
            <a:ext cx="223757" cy="105407"/>
          </a:xfrm>
          <a:prstGeom prst="rect">
            <a:avLst/>
          </a:prstGeom>
        </p:spPr>
      </p:pic>
      <p:pic>
        <p:nvPicPr>
          <p:cNvPr id="6" name="Объект 4">
            <a:extLst>
              <a:ext uri="{FF2B5EF4-FFF2-40B4-BE49-F238E27FC236}">
                <a16:creationId xmlns:a16="http://schemas.microsoft.com/office/drawing/2014/main" id="{0B9B29F1-37F3-CF06-3DA1-FAD317428C9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0584" y="0"/>
            <a:ext cx="13733167" cy="685800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  <a:outerShdw dist="50800" dir="9180000" sx="92000" sy="92000" algn="ctr" rotWithShape="0">
              <a:srgbClr val="000000"/>
            </a:outerShdw>
          </a:effectLst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D3ECD0C6-B97F-7976-316C-F9AD1C7F8B26}"/>
              </a:ext>
            </a:extLst>
          </p:cNvPr>
          <p:cNvPicPr>
            <a:picLocks noChangeAspect="1"/>
          </p:cNvPicPr>
          <p:nvPr>
            <p:ph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82000" contras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0584" y="-8052619"/>
            <a:ext cx="13733167" cy="685205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65636-47D1-441A-1822-B02669FF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749" y="698469"/>
            <a:ext cx="6540500" cy="1325563"/>
          </a:xfrm>
        </p:spPr>
        <p:txBody>
          <a:bodyPr>
            <a:normAutofit/>
          </a:bodyPr>
          <a:lstStyle/>
          <a:p>
            <a:r>
              <a:rPr lang="ru-RU" sz="4600" dirty="0">
                <a:latin typeface="Montserrat Alternates Black" panose="00000A00000000000000" pitchFamily="2" charset="-52"/>
              </a:rPr>
              <a:t>Главная страница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B98BB4-ECE6-8534-54D0-E2B163C91C16}"/>
              </a:ext>
            </a:extLst>
          </p:cNvPr>
          <p:cNvSpPr txBox="1"/>
          <p:nvPr/>
        </p:nvSpPr>
        <p:spPr>
          <a:xfrm>
            <a:off x="-8268817" y="298359"/>
            <a:ext cx="6858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600" dirty="0">
                <a:latin typeface="Montserrat Alternates Black" panose="00000A00000000000000" pitchFamily="2" charset="-52"/>
              </a:rPr>
              <a:t>Личный кабинет</a:t>
            </a:r>
            <a:endParaRPr lang="ru-RU" sz="4600" dirty="0"/>
          </a:p>
        </p:txBody>
      </p:sp>
    </p:spTree>
    <p:extLst>
      <p:ext uri="{BB962C8B-B14F-4D97-AF65-F5344CB8AC3E}">
        <p14:creationId xmlns:p14="http://schemas.microsoft.com/office/powerpoint/2010/main" val="1298291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CB2FE-7047-FE90-E713-FADB8A99C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4">
            <a:extLst>
              <a:ext uri="{FF2B5EF4-FFF2-40B4-BE49-F238E27FC236}">
                <a16:creationId xmlns:a16="http://schemas.microsoft.com/office/drawing/2014/main" id="{027029F6-E5DC-6855-65BE-0AC8C756C3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0584" y="-8052619"/>
            <a:ext cx="13733167" cy="685800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  <a:outerShdw dist="50800" dir="9180000" sx="92000" sy="92000" algn="ctr" rotWithShape="0">
              <a:srgbClr val="000000"/>
            </a:outerShdw>
          </a:effectLst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EC55D374-1A5C-EA4D-36D3-682229E7E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82000" contras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0584" y="-8052619"/>
            <a:ext cx="13733167" cy="685205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D1D8B-F26A-6D30-7B49-816789A8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749" y="-7454931"/>
            <a:ext cx="6540500" cy="1325563"/>
          </a:xfrm>
        </p:spPr>
        <p:txBody>
          <a:bodyPr>
            <a:normAutofit/>
          </a:bodyPr>
          <a:lstStyle/>
          <a:p>
            <a:r>
              <a:rPr lang="ru-RU" sz="4600" dirty="0">
                <a:latin typeface="Montserrat Alternates Black" panose="00000A00000000000000" pitchFamily="2" charset="-52"/>
              </a:rPr>
              <a:t>Главная страница</a:t>
            </a:r>
          </a:p>
        </p:txBody>
      </p:sp>
      <p:pic>
        <p:nvPicPr>
          <p:cNvPr id="3" name="Объект 4">
            <a:extLst>
              <a:ext uri="{FF2B5EF4-FFF2-40B4-BE49-F238E27FC236}">
                <a16:creationId xmlns:a16="http://schemas.microsoft.com/office/drawing/2014/main" id="{9ACA48BD-4C01-C4EE-C21B-DCE7D325B4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3060" y="463612"/>
            <a:ext cx="1455811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74766A-BCA9-B38E-BE83-A02989253E3C}"/>
              </a:ext>
            </a:extLst>
          </p:cNvPr>
          <p:cNvSpPr txBox="1"/>
          <p:nvPr/>
        </p:nvSpPr>
        <p:spPr>
          <a:xfrm>
            <a:off x="3084983" y="63503"/>
            <a:ext cx="6858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600" dirty="0">
                <a:latin typeface="Montserrat Alternates Black" panose="00000A00000000000000" pitchFamily="2" charset="-52"/>
              </a:rPr>
              <a:t>Личный кабинет</a:t>
            </a:r>
            <a:endParaRPr lang="ru-RU" sz="4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DEBA4-19FD-C1D5-448A-9152E8DBFAF0}"/>
              </a:ext>
            </a:extLst>
          </p:cNvPr>
          <p:cNvSpPr txBox="1"/>
          <p:nvPr/>
        </p:nvSpPr>
        <p:spPr>
          <a:xfrm>
            <a:off x="-8454014" y="2237401"/>
            <a:ext cx="727095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600" dirty="0">
                <a:latin typeface="Montserrat Alternates Black" panose="00000A00000000000000" pitchFamily="2" charset="-52"/>
              </a:rPr>
              <a:t>Заключение</a:t>
            </a:r>
            <a:endParaRPr lang="ru-RU" sz="4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5F077-4D65-B160-025E-FED8148F1391}"/>
              </a:ext>
            </a:extLst>
          </p:cNvPr>
          <p:cNvSpPr txBox="1"/>
          <p:nvPr/>
        </p:nvSpPr>
        <p:spPr>
          <a:xfrm>
            <a:off x="-8454014" y="3037620"/>
            <a:ext cx="795675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dirty="0">
                <a:latin typeface="Arkhip" pitchFamily="2" charset="-52"/>
              </a:rPr>
              <a:t>В ходе работы реализовано полноценное CRUD-приложение с системой регистрации и фильтрацией </a:t>
            </a:r>
            <a:r>
              <a:rPr lang="ru-RU" sz="2200" dirty="0" err="1">
                <a:latin typeface="Arkhip" pitchFamily="2" charset="-52"/>
              </a:rPr>
              <a:t>SQLite</a:t>
            </a:r>
            <a:r>
              <a:rPr lang="ru-RU" sz="2200" dirty="0">
                <a:latin typeface="Arkhip" pitchFamily="2" charset="-52"/>
              </a:rPr>
              <a:t>. данных. Достигнута высокая скорость работы благодаря легковесному движку </a:t>
            </a:r>
          </a:p>
        </p:txBody>
      </p:sp>
    </p:spTree>
    <p:extLst>
      <p:ext uri="{BB962C8B-B14F-4D97-AF65-F5344CB8AC3E}">
        <p14:creationId xmlns:p14="http://schemas.microsoft.com/office/powerpoint/2010/main" val="32221055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7C70E-EE6F-E205-EC32-C0F00645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4">
            <a:extLst>
              <a:ext uri="{FF2B5EF4-FFF2-40B4-BE49-F238E27FC236}">
                <a16:creationId xmlns:a16="http://schemas.microsoft.com/office/drawing/2014/main" id="{8DB43104-C49B-B84A-81F4-C6945A7B4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3060" y="8014786"/>
            <a:ext cx="1455811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6792DA-192C-74AA-7254-629803403B99}"/>
              </a:ext>
            </a:extLst>
          </p:cNvPr>
          <p:cNvSpPr txBox="1"/>
          <p:nvPr/>
        </p:nvSpPr>
        <p:spPr>
          <a:xfrm>
            <a:off x="14116777" y="63503"/>
            <a:ext cx="6858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600" dirty="0">
                <a:latin typeface="Montserrat Alternates Black" panose="00000A00000000000000" pitchFamily="2" charset="-52"/>
              </a:rPr>
              <a:t>Личный кабинет</a:t>
            </a:r>
            <a:endParaRPr lang="ru-RU" sz="4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AB0C5-68C8-94F0-211E-A92C03433C9B}"/>
              </a:ext>
            </a:extLst>
          </p:cNvPr>
          <p:cNvSpPr txBox="1"/>
          <p:nvPr/>
        </p:nvSpPr>
        <p:spPr>
          <a:xfrm>
            <a:off x="3816644" y="2206781"/>
            <a:ext cx="444245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600" dirty="0">
                <a:latin typeface="Montserrat Alternates Black" panose="00000A00000000000000" pitchFamily="2" charset="-52"/>
              </a:rPr>
              <a:t>Заключение</a:t>
            </a:r>
            <a:endParaRPr lang="ru-RU" sz="4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B4B283-8BE4-49E1-A0BB-BAAE45DCCF97}"/>
              </a:ext>
            </a:extLst>
          </p:cNvPr>
          <p:cNvSpPr txBox="1"/>
          <p:nvPr/>
        </p:nvSpPr>
        <p:spPr>
          <a:xfrm>
            <a:off x="2117621" y="3108810"/>
            <a:ext cx="795675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dirty="0">
                <a:latin typeface="Arkhip" pitchFamily="2" charset="-52"/>
              </a:rPr>
              <a:t>В ходе работы реализовано полноценное CRUD-приложение с системой регистрации и фильтрацией </a:t>
            </a:r>
            <a:r>
              <a:rPr lang="ru-RU" sz="2200" dirty="0" err="1">
                <a:latin typeface="Arkhip" pitchFamily="2" charset="-52"/>
              </a:rPr>
              <a:t>SQLite</a:t>
            </a:r>
            <a:r>
              <a:rPr lang="ru-RU" sz="2200" dirty="0">
                <a:latin typeface="Arkhip" pitchFamily="2" charset="-52"/>
              </a:rPr>
              <a:t>. данных. Достигнута высокая скорость работы благодаря легковесному движку </a:t>
            </a:r>
          </a:p>
        </p:txBody>
      </p:sp>
    </p:spTree>
    <p:extLst>
      <p:ext uri="{BB962C8B-B14F-4D97-AF65-F5344CB8AC3E}">
        <p14:creationId xmlns:p14="http://schemas.microsoft.com/office/powerpoint/2010/main" val="1837300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281</Words>
  <Application>Microsoft Office PowerPoint</Application>
  <PresentationFormat>Широкоэкранный</PresentationFormat>
  <Paragraphs>36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Arkhip</vt:lpstr>
      <vt:lpstr>Montserrat Alternates Black</vt:lpstr>
      <vt:lpstr>Тема Office</vt:lpstr>
      <vt:lpstr>Веб-приложение «Места в Чебоксарах»</vt:lpstr>
      <vt:lpstr>Введение</vt:lpstr>
      <vt:lpstr>Технологический стек</vt:lpstr>
      <vt:lpstr>Структура и реализация</vt:lpstr>
      <vt:lpstr>Вход/Регистрация</vt:lpstr>
      <vt:lpstr>Главная страница</vt:lpstr>
      <vt:lpstr>Главная страница</vt:lpstr>
      <vt:lpstr>Главная страница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194</dc:creator>
  <cp:lastModifiedBy>194</cp:lastModifiedBy>
  <cp:revision>3</cp:revision>
  <dcterms:created xsi:type="dcterms:W3CDTF">2026-04-26T09:29:08Z</dcterms:created>
  <dcterms:modified xsi:type="dcterms:W3CDTF">2026-04-26T10:43:06Z</dcterms:modified>
</cp:coreProperties>
</file>